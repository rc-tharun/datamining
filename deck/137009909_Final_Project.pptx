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2C5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D2C54"/>
                </a:solidFill>
                <a:latin typeface="Georgia"/>
              </a:rPr>
              <a:t>Test set performance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2C5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Louvain
(structure)</c:v>
                  </c:pt>
                  <c:pt idx="1">
                    <c:v>MLP
(text)</c:v>
                  </c:pt>
                  <c:pt idx="2">
                    <c:v>GraphSAGE
(structure + text)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47.21</c:v>
                </c:pt>
                <c:pt idx="1">
                  <c:v>56.12</c:v>
                </c:pt>
                <c:pt idx="2">
                  <c:v>70.93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 × 100</c:v>
                </c:pt>
              </c:strCache>
            </c:strRef>
          </c:tx>
          <c:spPr>
            <a:solidFill>
              <a:srgbClr val="C73E1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Louvain
(structure)</c:v>
                  </c:pt>
                  <c:pt idx="1">
                    <c:v>MLP
(text)</c:v>
                  </c:pt>
                  <c:pt idx="2">
                    <c:v>GraphSAGE
(structure + text)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18.75</c:v>
                </c:pt>
                <c:pt idx="1">
                  <c:v>33.01</c:v>
                </c:pt>
                <c:pt idx="2">
                  <c:v>51.83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D2C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3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4233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D5D0C5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C54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D2C54"/>
                </a:solidFill>
                <a:latin typeface="Georgia"/>
              </a:rPr>
              <a:t>Per-class F1: biggest wins (left 3) and smallest gains (right 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 (text only)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Class 14
(71 papers)</c:v>
                  </c:pt>
                  <c:pt idx="1">
                    <c:v>Class 37
(481 papers)</c:v>
                  </c:pt>
                  <c:pt idx="2">
                    <c:v>Class 20
(313 papers)</c:v>
                  </c:pt>
                  <c:pt idx="3">
                    <c:v>Class 16
(10,477 papers)</c:v>
                  </c:pt>
                  <c:pt idx="4">
                    <c:v>Class 12
(5 papers)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0.337</c:v>
                </c:pt>
                <c:pt idx="1">
                  <c:v>0.289</c:v>
                </c:pt>
                <c:pt idx="2">
                  <c:v>0.361</c:v>
                </c:pt>
                <c:pt idx="3">
                  <c:v>0.742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GraphSAGE</c:v>
                </c:pt>
              </c:strCache>
            </c:strRef>
          </c:tx>
          <c:spPr>
            <a:solidFill>
              <a:srgbClr val="C73E1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Class 14
(71 papers)</c:v>
                  </c:pt>
                  <c:pt idx="1">
                    <c:v>Class 37
(481 papers)</c:v>
                  </c:pt>
                  <c:pt idx="2">
                    <c:v>Class 20
(313 papers)</c:v>
                  </c:pt>
                  <c:pt idx="3">
                    <c:v>Class 16
(10,477 papers)</c:v>
                  </c:pt>
                  <c:pt idx="4">
                    <c:v>Class 12
(5 papers)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0.756</c:v>
                </c:pt>
                <c:pt idx="1">
                  <c:v>0.589</c:v>
                </c:pt>
                <c:pt idx="2">
                  <c:v>0.653</c:v>
                </c:pt>
                <c:pt idx="3">
                  <c:v>0.849</c:v>
                </c:pt>
                <c:pt idx="4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D2C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3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D5D0C5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2C5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D2C54"/>
                </a:solidFill>
                <a:latin typeface="Georgia"/>
              </a:rPr>
              <a:t>Test accuracy by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GraphSAGE</c:v>
                </c:pt>
              </c:strCache>
            </c:strRef>
          </c:tx>
          <c:spPr>
            <a:solidFill>
              <a:srgbClr val="C73E1D"/>
            </a:solidFill>
            <a:ln w="38100" cap="flat">
              <a:solidFill>
                <a:srgbClr val="C73E1D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C73E1D"/>
              </a:solidFill>
              <a:ln w="9525" cap="flat">
                <a:solidFill>
                  <a:srgbClr val="C73E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2019</c:v>
                  </c:pt>
                  <c:pt idx="1">
                    <c:v>2020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0.712</c:v>
                </c:pt>
                <c:pt idx="1">
                  <c:v>0.699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457B9D"/>
            </a:solidFill>
            <a:ln w="38100" cap="flat">
              <a:solidFill>
                <a:srgbClr val="457B9D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2019</c:v>
                  </c:pt>
                  <c:pt idx="1">
                    <c:v>2020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0.562</c:v>
                </c:pt>
                <c:pt idx="1">
                  <c:v>0.556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0D2C5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D5D0C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676 — DATA MINING  ·  FINAL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Citations, Communities,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Categories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citation structure tell us about a paper's topic?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480560"/>
            <a:ext cx="3657600" cy="0"/>
          </a:xfrm>
          <a:prstGeom prst="line">
            <a:avLst/>
          </a:prstGeom>
          <a:noFill/>
          <a:ln w="25400">
            <a:solidFill>
              <a:srgbClr val="C73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09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Tharun Reddy Challabotla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NetID: 137009909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OGBN-Arxiv — Open Graph Benchmark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0" y="4846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169,343</a:t>
            </a:r>
            <a:endParaRPr lang="en-US" sz="20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332720" y="4846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1,166,243</a:t>
            </a:r>
            <a:endParaRPr lang="en-US" sz="20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citation is a minimal signal — one paper pointing to another.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that signal, stripped of any text, already know what a paper is about?"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91440" cy="347472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structure know the topic?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hand you a citation graph with every title, abstract, and author scrubbed off, can you still tell me what field each paper belongs to? If "mostly yes," a large fraction of content classification can run on graphs alone — critical for cold-start cases where text is unreliable or missing.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69748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697480"/>
            <a:ext cx="91440" cy="34747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7B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Given text, does structure add anything?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are cheap and ubiquitous. If they already do 95% of the job, complex graph models are overkill. If they do 70% and a GNN pushes it to 90%, the business case flips. This sets the bar for expensive graph-aware infrastructure.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These questions decide whether graph-based infrastructure is worth building — and feed directly into fairness debates about citation-based ranking.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predicting the arXiv subject of a CS paper, how much signal lives in the citation structure alone, and how much lift does a GNN add by combining structure with text?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5486400" cy="54864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RQ-A  ·  COURSE METHOD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structural recovery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Louvain community detection, applied to the undirected citation graph with no access to text or labels, recover the 40 arXiv subject categories?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349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</a:t>
            </a:r>
            <a:pPr indent="0" marL="0"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Mutual Information (NMI) between communities and labels; majority-label classifier accuracy.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017520"/>
            <a:ext cx="5486400" cy="5486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RQ-B  ·  BEYOND COURSE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+ features via a GNN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114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GraphSAGE GNN — which aggregates neighbor features over the citation structure — outperform a text-only MLP baseline on held-out future papers?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349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</a:t>
            </a:r>
            <a:pPr indent="0" marL="0"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on the official OGB time-split; dissected by class and by test year.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RQ-C  ·  MECHANISM   </a:t>
            </a:r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class-level homophily explain class-level GNN lift? — closes the loop between A and B (see §11).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— OGBN-Arxiv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Benchmark  ·  Node Property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directed citation graph of arXiv CS papers.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(papers)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169,343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6400800" cy="502920"/>
          </a:xfrm>
          <a:prstGeom prst="rect">
            <a:avLst/>
          </a:prstGeom>
          <a:solidFill>
            <a:srgbClr val="F6F4E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 (citations)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1,166,243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text embedding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6400800" cy="502920"/>
          </a:xfrm>
          <a:prstGeom prst="rect">
            <a:avLst/>
          </a:prstGeom>
          <a:solidFill>
            <a:srgbClr val="F6F4E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arXiv CS subject areas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years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 – 2020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6400800" cy="502920"/>
          </a:xfrm>
          <a:prstGeom prst="rect">
            <a:avLst/>
          </a:prstGeom>
          <a:solidFill>
            <a:srgbClr val="F6F4E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46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ODC-BY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1371600"/>
            <a:ext cx="45720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371600"/>
            <a:ext cx="4572000" cy="54864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2103120"/>
            <a:ext cx="4206240" cy="6400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·  papers ≤ 2017   (90,941)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0" y="2834640"/>
            <a:ext cx="4206240" cy="64008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 ·  papers = 2018   (29,799)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3566160"/>
            <a:ext cx="4206240" cy="64008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·  papers ≥ 2019   (48,603)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4343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papers did not exist when training data was collected — this rules out information leakage and simulates the real deployment setting for a paper-categorization system.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HOMOPHILY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65.5% of edges connect same-class papers — 26.2× random (2.5%). This is the premise of everything that follows.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EDA Findings That Shape 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below drives a specific modeling choice. Anything that did not was pruned.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321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777240" cy="5486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HEAVY-TAILED DEGREE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 / 1 / 13,155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" y="244144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max in-degree. The "average" paper is fictional; 36.6% of papers have zero in-degree inside this graph.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3337560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→ use sparse-matrix ops; hubs dominate centrality and GNN gradient flow.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5352" y="1691640"/>
            <a:ext cx="55321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691640"/>
            <a:ext cx="777240" cy="54864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691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59752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9752" y="19842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942× ratio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44144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class = 27,321 papers, smallest = 29. Top-5 classes alone hold 53.5% of all papers.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337560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→ Macro-F1 (not accuracy) is the headline metric.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55321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32504"/>
            <a:ext cx="777240" cy="54864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3250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0782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SKEW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325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 vs 2015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808" y="478231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median year is 2017, but the top-100 papers by in-degree have median year 2015. Test set lives in the steep-growth era.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567842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→ time-aware split is non-negotiable; centrality is age-biased.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5352" y="4032504"/>
            <a:ext cx="55321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45352" y="4032504"/>
            <a:ext cx="777240" cy="5486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403250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9752" y="40782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HOMOPHILY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9752" y="4325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46520" y="478231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763,986 of 1,166,243 citations connect papers with the same label — 26.2× above the 2.5% random baseline.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567842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→ structure carries real topical signal; GNN aggregation will work.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Three Models, One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371600"/>
            <a:ext cx="4297680" cy="82296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371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OGBN-Arxiv  ·  time-aware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≤ 2017  ·  valid = 2018  ·  test ≥ 2019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4114800" cy="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331720"/>
            <a:ext cx="0" cy="27432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331720"/>
            <a:ext cx="0" cy="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331720"/>
            <a:ext cx="0" cy="27432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95560" y="2331720"/>
            <a:ext cx="-4114800" cy="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5560" y="2331720"/>
            <a:ext cx="0" cy="27432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331720"/>
            <a:ext cx="8229600" cy="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2194560"/>
            <a:ext cx="0" cy="13716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379476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STRUCTURE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Louvain + majority label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Symmetrise → run Louvain on undirected graph → each test paper predicted with its community's training-majority label.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✓   ·   text ✗   ·   labels ✗ (unsup.)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60604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6552" y="2606040"/>
            <a:ext cx="3794760" cy="50292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TEXT 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9432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2-layer MLP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99432" y="37490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features → FC 256 + BN + dropout → FC 256 + BN + dropout → FC 40. Trained with cross-entropy for 500 epochs, early-stopped on val Macro-F1.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9432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✗   ·   text ✓   ·   labels ✓ (sup.)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75904" y="260604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904" y="2606040"/>
            <a:ext cx="3794760" cy="50292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13064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STRUCTURE + TEXT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58784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GraphSAGE (3 layers)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58784" y="37490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Symmetrised graph → 3× SAGEConv + BN + dropout → 40-way output. Full-batch training on GPU, up to 300 epochs, early-stopped on val Macro-F1.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58784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✓   ·   text ✓   ·   labels ✓ (sup.)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evaluation on the held-out test split  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·  Macro-F1 (primary)  ·  Per-class F1  ·  Per-year-bucket accuracy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 — Structure only  (Louvain)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 ·  RQ-A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raw signal in citations, before any label sees any feature.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Symmetrise the directed citation graph (Louvain needs undirected).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Louvain community detection (modularity maximisation).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partition against labels with NMI and modularity.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partition to a classifier: majority training label per community.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6217920" cy="160020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00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= 0.7020 → real large-scale community structure. NMI = 0.3853 → a meaningful fraction of that structure lines up with the 40-way arXiv taxonomy. You could build a usable paper classifier with nothing but the citation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4754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371600"/>
            <a:ext cx="91440" cy="14630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508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7B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96912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96912" y="2496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above the 0.3 'real community' threshold.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971800"/>
            <a:ext cx="4754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2971800"/>
            <a:ext cx="91440" cy="146304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0.3853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96912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vs. GROUND TRUTH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96912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= 0, perfect = 1. Clustering is unsupervised.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4572000"/>
            <a:ext cx="4754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4572000"/>
            <a:ext cx="91440" cy="178308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4709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47.21%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296912" y="5486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MAJORITY-LABEL ACCURACY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96912" y="5788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with zero access to text. Random baseline = 2.5% (1/40).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 — Text only  (MLP)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comparison point for the GNN.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6217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2-hidden-layer MLP, hidden 256, BN + dropout 0.5.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0.01, weight decay = 5e-4.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loss, up to 500 epochs.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validation Macro-F1.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128-d skip-gram text embedding. No graph.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6217920" cy="155448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cleanly beats Louvain on both metrics — 56.12% vs. 47.21% accuracy and 0.3301 vs. 0.1875 Macro-F1. Skip-gram text features are doing real work even before the graph; structure-only majority voting is no longer the better classifier.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475488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371600"/>
            <a:ext cx="91440" cy="2395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57B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56.12%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296912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96912" y="286207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 only; no citations seen.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959352"/>
            <a:ext cx="475488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3959352"/>
            <a:ext cx="91440" cy="2395728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418795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0.3301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96912" y="5148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6912" y="544982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mean per-class F1 — fairer under heavy class imbalance than plain accuracy.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C — Structure + Text  (GraphSAGE)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·  RQ-B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text features as the MLP — plus the graph.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6217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SAGEConv layers, hidden 256, BN + dropout 0.5.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Symmetrised graph: messages flow cited ↔ citing.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Full-batch GPU training (fits on Colab T4).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0.01, up to 300 epochs, early stop on val Macro-F1.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design — natural fit with time-aware split.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6217920" cy="155448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65.5% homophily means neighbours usually share the label; aggregation is label smoothing. Depth-3 message passing lets thin-text papers borrow context from richer neighbours.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475488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371600"/>
            <a:ext cx="91440" cy="2395728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70.93%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296912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96912" y="286207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128-d features as the MLP — the only change is adding the graph.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959352"/>
            <a:ext cx="475488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3959352"/>
            <a:ext cx="91440" cy="2395728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418795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0.5183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96912" y="5148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6912" y="544982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in Macro-F1 confirms the lift is not just on majority classes — minority classes benefit too.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Structure vs. Text vs. Both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71323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71600"/>
            <a:ext cx="3977640" cy="493776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lift over text-only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01000" y="2423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+14.8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80010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 of accuracy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3886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+18.8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80010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Macro-F1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01000" y="5349240"/>
            <a:ext cx="3657600" cy="0"/>
          </a:xfrm>
          <a:prstGeom prst="line">
            <a:avLst/>
          </a:prstGeom>
          <a:noFill/>
          <a:ln w="9525">
            <a:solidFill>
              <a:srgbClr val="E8A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5486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GNN sees exactly the same 128-d features as the MLP — the lift is pure graph signal.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the Graph Help Most?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F1 lift (GraphSAGE − MLP)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91640"/>
          <a:ext cx="71323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691640"/>
            <a:ext cx="3977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18120" y="1691640"/>
            <a:ext cx="91440" cy="2194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 ↑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21488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context rescues classes where text is sparse or ambiguous: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 14: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0.337 → 0.756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(71 papers, Δ +0.419)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 37: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0.289 → 0.589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(481 papers, Δ +0.300)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 20: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0.361 → 0.653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(313 papers, Δ +0.292)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4114800"/>
            <a:ext cx="3977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8120" y="4114800"/>
            <a:ext cx="91440" cy="219456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GAINS  ◦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0" y="457200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regressed in this run — the two cases below are flat or already-strong: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 16: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0.742 → 0.849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(10,477 papers, Δ +0.107)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 12: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0.000 → 0.000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5 test papers — statistically silent)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MLP is already strong (large classes) or there is nothing to learn (n=5), there is little room for the graph to add.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Graph Help Where It Does?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  ·  RQ-C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GraphSAGE's per-class lift over the MLP mechanically driven by per-class graph homophily?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7315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91440" cy="17830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6903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class c ∈ {0, …, 39} we compute: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H(c)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fraction of citation-edge endpoints in class c that point to another class-c paper.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F1(c)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F1₌GNN(c) − F1₌MLP(c)  (already computed in the per-class breakdown).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correlation across all 40 classes.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 </a:t>
            </a:r>
            <a:pPr indent="0" marL="0">
              <a:buNone/>
            </a:pPr>
            <a:r>
              <a:rPr lang="en-US" sz="1200" i="1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helps where neighbors carry information about a node — i.e., where citations stay within-class. If the per-class lift correlates with per-class homophily, RQ-A's structural premise mechanically explains RQ-B's modeling lift.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703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371600"/>
            <a:ext cx="91440" cy="2395728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002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+0.424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48472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  (p = 0.0065)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2862072"/>
            <a:ext cx="3337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homophily H(c) vs. per-class GNN lift Δ F1(c) across 40 classes.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3959352"/>
            <a:ext cx="3703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3959352"/>
            <a:ext cx="91440" cy="2395728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418795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+0.437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48472" y="5148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  (p = 0.0048)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8472" y="5449824"/>
            <a:ext cx="3337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sanity check — both correlations are positive and significant at the 1% level.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Drift — Is the Lift Stable?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17830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drop modestly from 2019 to 2020.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</a:t>
            </a:r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0.562 → 0.556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0.330 → 0.323 Macro-F1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GraphSAGE:</a:t>
            </a:r>
            <a:pPr indent="0" marL="0">
              <a:buNone/>
            </a:pPr>
            <a:r>
              <a:rPr lang="en-US" sz="130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0.712 → 0.699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0.520 → 0.501 Macro-F1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4434840"/>
            <a:ext cx="3931920" cy="192024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48920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lift is not a single-year artefact. GraphSAGE sits well above the MLP in both years. Mild drift is expected — test papers have fewer training-era neighbours to aggregate from.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Aside — Centrality Is Not Neutral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 and in-degree are highly correlated (Spearman ρ = 0.9254) — but both are heavily age-biased.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91440" cy="210312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GRAPH-WIDE MEDIAN 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3192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169,343 papers.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03120"/>
            <a:ext cx="91440" cy="210312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53712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TOP-500 BY IN-DEGREE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3192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year — 1 year older than the graph-wide median.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103120"/>
            <a:ext cx="91440" cy="210312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302752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2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TOP-500 BY PAGERANK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02752" y="33192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year — 6 years older. PageRank is much more skewed toward early papers.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ANY SYSTEM BUILT ON THESE METRICS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recommender surfacing "highly-cited foundational work" structurally favours older authors and ideas.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Paper-scoring systems used in hiring / grants / promotions risk encoding this bias.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in-degree nor PageRank is a </a:t>
            </a:r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measure. Both are </a:t>
            </a:r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exposure-over-time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82880" cy="77724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Ethics, Limitations, Threats to Validity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11512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57432" cy="0"/>
          </a:xfrm>
          <a:prstGeom prst="line">
            <a:avLst/>
          </a:prstGeom>
          <a:noFill/>
          <a:ln w="9525">
            <a:solidFill>
              <a:srgbClr val="D5D0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is a simplification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assigns one primary category per paper; many papers are genuinely interdisciplinary. Our metrics reward guessing only the primary tag.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25880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25880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12280" y="1399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Centrality bias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in-degree and PageRank favour older papers. Not used as GNN features, but any downstream ranking/scoring extension must contend with this.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80944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80944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3054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438144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OGBN-Arxiv covers arXiv CS only. Homophily and graph-lift conclusions are specific to this network.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980944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980944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980944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3054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graph is the view we were given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3438144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 of nodes have in-degree 0 — an artefact of the dataset boundary, not a statement about those papers. Their centrality and neighbour-quality are downweighted.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36008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636008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36008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43000" y="4709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is not fully solved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093208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classes are statistically shaky regardless of architecture; we cannot cleanly distinguish model weakness from tiny sample sizes.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636008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636008"/>
            <a:ext cx="457200" cy="1517904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636008"/>
            <a:ext cx="457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4709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 not tune aggressively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5093208"/>
            <a:ext cx="4800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hyperparameter sweep would likely raise absolute scores on both MLP and GraphSAGE; treat our deltas as representative, not maximal.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Communities, and Categories  ·  OGBN-Arxiv  ·  Tharun Reddy Challabotla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08792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tightly-coupled questions, three concrete answers.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0561320" cy="1234440"/>
          </a:xfrm>
          <a:prstGeom prst="rect">
            <a:avLst/>
          </a:prstGeom>
          <a:solidFill>
            <a:srgbClr val="1A3A66"/>
          </a:solidFill>
          <a:ln w="6350">
            <a:solidFill>
              <a:srgbClr val="457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73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RQ-A  ·  STRUCTURE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9933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= 0.7020, NMI = 0.3853  →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recovers a real, label-aligned community structure. A bare majority-label classifier reaches </a:t>
            </a:r>
            <a:pPr indent="0" marL="0">
              <a:buNone/>
            </a:pPr>
            <a:r>
              <a:rPr lang="en-US" sz="125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47.21% accuracy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ever touching a text feature. </a:t>
            </a:r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structure knows a lot about topic.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0561320" cy="1234440"/>
          </a:xfrm>
          <a:prstGeom prst="rect">
            <a:avLst/>
          </a:prstGeom>
          <a:solidFill>
            <a:srgbClr val="1A3A66"/>
          </a:solidFill>
          <a:ln w="6350">
            <a:solidFill>
              <a:srgbClr val="C73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99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RQ-B  ·  STRUCTURE + 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31927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at 70.93% / 0.5183 vs. MLP at 56.12% / 0.3301  →  </a:t>
            </a:r>
            <a:pPr indent="0" marL="0">
              <a:buNone/>
            </a:pPr>
            <a:r>
              <a:rPr lang="en-US" sz="140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+14.8 pp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and </a:t>
            </a:r>
            <a:pPr indent="0" marL="0">
              <a:buNone/>
            </a:pPr>
            <a:r>
              <a:rPr lang="en-US" sz="1400" b="1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+18.8 points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Macro-F1 with the same text features — the lift is pure graph signal, stable across 2019 and 2020. </a:t>
            </a:r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structure with text is decisively better than either alone.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10561320" cy="1234440"/>
          </a:xfrm>
          <a:prstGeom prst="rect">
            <a:avLst/>
          </a:prstGeom>
          <a:solidFill>
            <a:srgbClr val="1A3A66"/>
          </a:solidFill>
          <a:ln w="6350">
            <a:solidFill>
              <a:srgbClr val="E8A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251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RQ-C  ·  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6451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+0.424 (p = 0.0065)  →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graph homophily H(c) is positively rank-correlated with per-class GraphSAGE lift Δ F1(c). The +14.8 pp aggregate boost is concentrated where citation neighborhoods are locally label-coherent. </a:t>
            </a:r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RQ-A and RQ-B turn out to be two views of one underlying property of the graph.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5669280"/>
            <a:ext cx="10561320" cy="0"/>
          </a:xfrm>
          <a:prstGeom prst="line">
            <a:avLst/>
          </a:prstGeom>
          <a:noFill/>
          <a:ln w="12700">
            <a:solidFill>
              <a:srgbClr val="E8AE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80644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bigger picture  </a:t>
            </a:r>
            <a:pPr indent="0" marL="0">
              <a:buNone/>
            </a:pPr>
            <a:r>
              <a:rPr lang="en-US" sz="1400" i="1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in this domain, graph structure is not a weak auxiliary signal. It is a first-class input. A text-only classifier is leaving a large amount of signal on the 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E8AE2B"/>
          </a:solidFill>
          <a:ln w="12700">
            <a:solidFill>
              <a:srgbClr val="E8A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E8A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3657600" cy="0"/>
          </a:xfrm>
          <a:prstGeom prst="line">
            <a:avLst/>
          </a:prstGeom>
          <a:noFill/>
          <a:ln w="25400">
            <a:solidFill>
              <a:srgbClr val="C73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A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directions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6177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Temporal GNNs that respect edge timestamps (e.g., TGN).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Label-noise-aware training with top-k soft labels for interdisciplinary papers.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Fairness-aware ranking that controls for publication year.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Scale the same methodology to OGBN-Papers100M.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Tharun Reddy Challabotla  ·  NetID 137009909  ·  CSCE 676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Citations, Communities, and Categories</dc:title>
  <dc:subject>PptxGenJS Presentation</dc:subject>
  <dc:creator>Tharun Reddy Challabotla</dc:creator>
  <cp:lastModifiedBy>Tharun Reddy Challabotla</cp:lastModifiedBy>
  <cp:revision>1</cp:revision>
  <dcterms:created xsi:type="dcterms:W3CDTF">2026-04-28T02:34:51Z</dcterms:created>
  <dcterms:modified xsi:type="dcterms:W3CDTF">2026-04-28T02:34:51Z</dcterms:modified>
</cp:coreProperties>
</file>